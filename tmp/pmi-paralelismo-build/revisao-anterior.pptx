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6ad795c04d4999" /><Relationship Type="http://schemas.openxmlformats.org/officeDocument/2006/relationships/extended-properties" Target="/docProps/app.xml" Id="Rbd48d4231389463c" /><Relationship Type="http://schemas.openxmlformats.org/officeDocument/2006/relationships/officeDocument" Target="/ppt/presentation.xml" Id="R231b47665a5741f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a18287ae009447b"/>
  </p:sldMasterIdLst>
  <p:notesMasterIdLst>
    <p:notesMasterId xmlns:r="http://schemas.openxmlformats.org/officeDocument/2006/relationships" r:id="R72aa039e9c0a4072"/>
  </p:notesMasterIdLst>
  <p:sldIdLst>
    <p:sldId xmlns:r="http://schemas.openxmlformats.org/officeDocument/2006/relationships" id="256" r:id="Rc12b9aa8cce740a0"/>
    <p:sldId xmlns:r="http://schemas.openxmlformats.org/officeDocument/2006/relationships" id="257" r:id="Rdb70cf1b111448f8"/>
    <p:sldId xmlns:r="http://schemas.openxmlformats.org/officeDocument/2006/relationships" id="258" r:id="R51b8437b98c14a88"/>
    <p:sldId xmlns:r="http://schemas.openxmlformats.org/officeDocument/2006/relationships" id="259" r:id="Rb43820dfbf5a43ed"/>
    <p:sldId xmlns:r="http://schemas.openxmlformats.org/officeDocument/2006/relationships" id="260" r:id="R5da6cbf4f28e47a6"/>
    <p:sldId xmlns:r="http://schemas.openxmlformats.org/officeDocument/2006/relationships" id="261" r:id="Rb8185f1991de4224"/>
    <p:sldId xmlns:r="http://schemas.openxmlformats.org/officeDocument/2006/relationships" id="262" r:id="Red161b4a8f8d4e5b"/>
    <p:sldId xmlns:r="http://schemas.openxmlformats.org/officeDocument/2006/relationships" id="263" r:id="Rb051df9c8946495b"/>
    <p:sldId xmlns:r="http://schemas.openxmlformats.org/officeDocument/2006/relationships" id="264" r:id="R051cbb515fd9425c"/>
    <p:sldId xmlns:r="http://schemas.openxmlformats.org/officeDocument/2006/relationships" id="265" r:id="R0c45f1bf27b7420e"/>
    <p:sldId xmlns:r="http://schemas.openxmlformats.org/officeDocument/2006/relationships" id="266" r:id="R0b74c9a925eb4279"/>
    <p:sldId xmlns:r="http://schemas.openxmlformats.org/officeDocument/2006/relationships" id="267" r:id="Rf529d8cb4da541d3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980b9c4580c94423"/>
      <p:bold xmlns:r="http://schemas.openxmlformats.org/officeDocument/2006/relationships" r:id="R710f6939d22c4cc9"/>
      <p:italic xmlns:r="http://schemas.openxmlformats.org/officeDocument/2006/relationships" r:id="R5bb0f6cde1c64606"/>
      <p:boldItalic xmlns:r="http://schemas.openxmlformats.org/officeDocument/2006/relationships" r:id="Re5c6d35ad1f846ad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a169204d4b4d6d" /><Relationship Type="http://schemas.openxmlformats.org/officeDocument/2006/relationships/slideMaster" Target="/ppt/slideMasters/slideMaster1.xml" Id="R1a18287ae009447b" /><Relationship Type="http://schemas.openxmlformats.org/officeDocument/2006/relationships/notesMaster" Target="/ppt/notesMasters/notesMaster1.xml" Id="R72aa039e9c0a4072" /><Relationship Type="http://schemas.openxmlformats.org/officeDocument/2006/relationships/presProps" Target="/ppt/presProps.xml" Id="R7b61f80a4f824777" /><Relationship Type="http://schemas.openxmlformats.org/officeDocument/2006/relationships/viewProps" Target="/ppt/viewProps.xml" Id="Re2b3f1cd269e460a" /><Relationship Type="http://schemas.openxmlformats.org/officeDocument/2006/relationships/tableStyles" Target="/ppt/tableStyles.xml" Id="R04fb2875cc734c4c" /><Relationship Type="http://schemas.openxmlformats.org/officeDocument/2006/relationships/font" Target="/ppt/fonts/font.dat" Id="R980b9c4580c94423" /><Relationship Type="http://schemas.openxmlformats.org/officeDocument/2006/relationships/font" Target="/ppt/fonts/font2.dat" Id="R710f6939d22c4cc9" /><Relationship Type="http://schemas.openxmlformats.org/officeDocument/2006/relationships/font" Target="/ppt/fonts/font3.dat" Id="R5bb0f6cde1c64606" /><Relationship Type="http://schemas.openxmlformats.org/officeDocument/2006/relationships/font" Target="/ppt/fonts/font4.dat" Id="Re5c6d35ad1f846ad" /><Relationship Type="http://schemas.openxmlformats.org/officeDocument/2006/relationships/slide" Target="/ppt/slides/slide1.xml" Id="Rc12b9aa8cce740a0" /><Relationship Type="http://schemas.openxmlformats.org/officeDocument/2006/relationships/slide" Target="/ppt/slides/slide2.xml" Id="Rdb70cf1b111448f8" /><Relationship Type="http://schemas.openxmlformats.org/officeDocument/2006/relationships/slide" Target="/ppt/slides/slide3.xml" Id="R51b8437b98c14a88" /><Relationship Type="http://schemas.openxmlformats.org/officeDocument/2006/relationships/slide" Target="/ppt/slides/slide4.xml" Id="Rb43820dfbf5a43ed" /><Relationship Type="http://schemas.openxmlformats.org/officeDocument/2006/relationships/slide" Target="/ppt/slides/slide5.xml" Id="R5da6cbf4f28e47a6" /><Relationship Type="http://schemas.openxmlformats.org/officeDocument/2006/relationships/slide" Target="/ppt/slides/slide6.xml" Id="Rb8185f1991de4224" /><Relationship Type="http://schemas.openxmlformats.org/officeDocument/2006/relationships/slide" Target="/ppt/slides/slide7.xml" Id="Red161b4a8f8d4e5b" /><Relationship Type="http://schemas.openxmlformats.org/officeDocument/2006/relationships/slide" Target="/ppt/slides/slide8.xml" Id="Rb051df9c8946495b" /><Relationship Type="http://schemas.openxmlformats.org/officeDocument/2006/relationships/slide" Target="/ppt/slides/slide9.xml" Id="R051cbb515fd9425c" /><Relationship Type="http://schemas.openxmlformats.org/officeDocument/2006/relationships/slide" Target="/ppt/slides/slide10.xml" Id="R0c45f1bf27b7420e" /><Relationship Type="http://schemas.openxmlformats.org/officeDocument/2006/relationships/slide" Target="/ppt/slides/slide11.xml" Id="R0b74c9a925eb4279" /><Relationship Type="http://schemas.openxmlformats.org/officeDocument/2006/relationships/slide" Target="/ppt/slides/slide12.xml" Id="Rf529d8cb4da541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b5da345b134b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3927ee347d4b87" /><Relationship Type="http://schemas.openxmlformats.org/officeDocument/2006/relationships/notesMaster" Target="/ppt/notesMasters/notesMaster1.xml" Id="R75c4a7067aa54a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468b9e499140eb" /><Relationship Type="http://schemas.openxmlformats.org/officeDocument/2006/relationships/notesMaster" Target="/ppt/notesMasters/notesMaster1.xml" Id="R8e3d4eb45ca8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63553259f34f37" /><Relationship Type="http://schemas.openxmlformats.org/officeDocument/2006/relationships/notesMaster" Target="/ppt/notesMasters/notesMaster1.xml" Id="R5cf05b7d1492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d71fb0ab7044b8" /><Relationship Type="http://schemas.openxmlformats.org/officeDocument/2006/relationships/notesMaster" Target="/ppt/notesMasters/notesMaster1.xml" Id="R2bf7248fd83047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d3c67aff2a4013" /><Relationship Type="http://schemas.openxmlformats.org/officeDocument/2006/relationships/notesMaster" Target="/ppt/notesMasters/notesMaster1.xml" Id="R41a2673b451944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61f3d0c1a447f8" /><Relationship Type="http://schemas.openxmlformats.org/officeDocument/2006/relationships/notesMaster" Target="/ppt/notesMasters/notesMaster1.xml" Id="Rc554a5ff35ce44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73711bd77244f7" /><Relationship Type="http://schemas.openxmlformats.org/officeDocument/2006/relationships/notesMaster" Target="/ppt/notesMasters/notesMaster1.xml" Id="R873eeddde4c74f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2e2119cde14706" /><Relationship Type="http://schemas.openxmlformats.org/officeDocument/2006/relationships/notesMaster" Target="/ppt/notesMasters/notesMaster1.xml" Id="Re1e4a88a77d84f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4bac3df8a24c36" /><Relationship Type="http://schemas.openxmlformats.org/officeDocument/2006/relationships/notesMaster" Target="/ppt/notesMasters/notesMaster1.xml" Id="R6f9d71d2cf034a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2e7f1f14854d8b" /><Relationship Type="http://schemas.openxmlformats.org/officeDocument/2006/relationships/notesMaster" Target="/ppt/notesMasters/notesMaster1.xml" Id="Rc287fbff570940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c482880d40485e" /><Relationship Type="http://schemas.openxmlformats.org/officeDocument/2006/relationships/notesMaster" Target="/ppt/notesMasters/notesMaster1.xml" Id="R254b2fbbdd004c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c9426c82e948a9" /><Relationship Type="http://schemas.openxmlformats.org/officeDocument/2006/relationships/notesMaster" Target="/ppt/notesMasters/notesMaster1.xml" Id="Ree44c02674a846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enunciado fornecido pelo usuário e docs/evidencias/pmi-paralelismo-2026-10-13/RELATORIO_FINAL.md. A data de apresentação é 15/10/2026.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git remote -v conferido; backend-fastapi/src/application/usecases/exportar_dashboard.py; backend-fastapi/src/infrastructure/documents/dashboard_excel.py; comparacao-pool.json, campo counts. Base Git 6a97132 com alterações locais.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histórica: docs/evidencias/exportacao-excel-paralelo-2026-10-08/comparacao-apenas-renderizacao.json. Fonte atual: dashboard_excel.py, batch_size=25000 e workers=4. O experimento inicial usa algoritmo diferente e não integra as medianas atuais.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exportar_dashboard.py; dashboard_excel.py; excel_rows.py. Só o processamento dos blocos executa em multiprocessing. Banco e montagem final seguem sequenciais. Não há workbook nem sessão SQLAlchemy compartilhada.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real: dashboard_excel.py, função run_sequential. A quebra de linha foi expandida para legibilidade; o comportamento é idêntico ao source. O worker compartilhado está em excel_rows.py, render_rows.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real: dashboard_excel.py, função run_parallel. As linhas da chamada Pool foram quebradas para exibição. benchmark_excel.py usa if __name__ == __main__, necessário ao spawn. A máquina da medição informa cpu_count=4.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Fonte: docs/evidencias/pmi-paralelismo-2026-10-13/comparacao-pool.json. Horários started_at/finished_at são reais com offset -03:00. Repetições alternam ordem. Tempos incluem todo run(), abertura/encerramento de processos e ZIP. Hashes são conferidos fora do cronômetro. Tempos de uma repetição podem favorecer o sequencial.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comparacao-pool.json, results.total. Python 3.12.15, PostgreSQL 15, Docker Linux/WSL2, 4 CPUs. Redução = 100*(1-par/seq); speedup=seq/par. O gráfico começa em zero. Essa comparação não usa resultados do algoritmo anterior. A medição inclui carga normal e variação de execução no computador.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RELATORIO_FINAL.md, seção dificuldades; históricos preservados em docs/evidencias/exportacao-excel-paralelo-2026-10-08. Não afirmar deadlock onde houve problema de permissão ou relógio.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dashboard_excel.py, excel_rows.py e RELATORIO_FINAL.md, seção desafios. Nenhum deadlock observado não prova ausência de risco. Não foram medidos pico de memória/disco nem múltiplas exportações simultâneas. A API usa tempo limite HTTP, que não cancela automaticamente um worker preso.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Fontes: testes.xml (11 testes, zero falhas), comparacao-pool.json content_equal=true e content_sha256 de cada run. Tests: test_excel_blocks.py e test_dashboard_excel.py. Hashes ignoram timestamps ZIP. Evidências não constituem ensaio concorrente de vários usuários.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comparacao-pool.json e RELATORIO_FINAL.md. A melhoria é demonstrada para este volume/ambiente. Instruções de apresentação e comandos da demo ficam no chat conforme solicitado, fora dos slides.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e798d4a0d46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e91739f0549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414bfda114c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aa33fb3ac49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c18318ba24c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1c0136e8949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d27c9e45a45f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5f1e24ea7418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38ba3746324843" /><Relationship Type="http://schemas.openxmlformats.org/officeDocument/2006/relationships/slideLayout" Target="/ppt/slideLayouts/slideLayout1.xml" Id="R278cb12bc1c04fdd" /><Relationship Type="http://schemas.openxmlformats.org/officeDocument/2006/relationships/slideLayout" Target="/ppt/slideLayouts/slideLayout2.xml" Id="Re1c8b1f3ee464c8f" /><Relationship Type="http://schemas.openxmlformats.org/officeDocument/2006/relationships/slideLayout" Target="/ppt/slideLayouts/slideLayout3.xml" Id="Rbd5abd5fcf684a8c" /><Relationship Type="http://schemas.openxmlformats.org/officeDocument/2006/relationships/slideLayout" Target="/ppt/slideLayouts/slideLayout4.xml" Id="R26a11a7972ea4f7c" /><Relationship Type="http://schemas.openxmlformats.org/officeDocument/2006/relationships/slideLayout" Target="/ppt/slideLayouts/slideLayout5.xml" Id="Rb2a6ed1f869146be" /><Relationship Type="http://schemas.openxmlformats.org/officeDocument/2006/relationships/slideLayout" Target="/ppt/slideLayouts/slideLayout6.xml" Id="R1100916f436b48c0" /><Relationship Type="http://schemas.openxmlformats.org/officeDocument/2006/relationships/slideLayout" Target="/ppt/slideLayouts/slideLayout7.xml" Id="Rcaa09e4c25654cf5" /><Relationship Type="http://schemas.openxmlformats.org/officeDocument/2006/relationships/slideLayout" Target="/ppt/slideLayouts/slideLayout8.xml" Id="Rc2cef5cec53946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8cb12bc1c04fdd"/>
    <p:sldLayoutId xmlns:r="http://schemas.openxmlformats.org/officeDocument/2006/relationships" id="2147483650" r:id="Re1c8b1f3ee464c8f"/>
    <p:sldLayoutId xmlns:r="http://schemas.openxmlformats.org/officeDocument/2006/relationships" id="2147483651" r:id="Rbd5abd5fcf684a8c"/>
    <p:sldLayoutId xmlns:r="http://schemas.openxmlformats.org/officeDocument/2006/relationships" id="2147483652" r:id="R26a11a7972ea4f7c"/>
    <p:sldLayoutId xmlns:r="http://schemas.openxmlformats.org/officeDocument/2006/relationships" id="2147483653" r:id="Rb2a6ed1f869146be"/>
    <p:sldLayoutId xmlns:r="http://schemas.openxmlformats.org/officeDocument/2006/relationships" id="2147483654" r:id="R1100916f436b48c0"/>
    <p:sldLayoutId xmlns:r="http://schemas.openxmlformats.org/officeDocument/2006/relationships" id="2147483655" r:id="Rcaa09e4c25654cf5"/>
    <p:sldLayoutId xmlns:r="http://schemas.openxmlformats.org/officeDocument/2006/relationships" id="2147483656" r:id="Rc2cef5cec5394628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80f8ff67e4a4b" /><Relationship Type="http://schemas.openxmlformats.org/officeDocument/2006/relationships/notesSlide" Target="/ppt/notesSlides/notesSlide1.xml" Id="R838db1c5ccee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bbc245fd04a63" /><Relationship Type="http://schemas.openxmlformats.org/officeDocument/2006/relationships/notesSlide" Target="/ppt/notesSlides/notesSlide2.xml" Id="Re444248aafbe48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a4b7c9b0b4bcc" /><Relationship Type="http://schemas.openxmlformats.org/officeDocument/2006/relationships/notesSlide" Target="/ppt/notesSlides/notesSlide3.xml" Id="R916426b4942e49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a45b3d2b541fa" /><Relationship Type="http://schemas.openxmlformats.org/officeDocument/2006/relationships/notesSlide" Target="/ppt/notesSlides/notesSlide4.xml" Id="R28bda778020649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36426c28934583" /><Relationship Type="http://schemas.openxmlformats.org/officeDocument/2006/relationships/notesSlide" Target="/ppt/notesSlides/notesSlide5.xml" Id="Rc4b3750b8070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14cdd8c5da4019" /><Relationship Type="http://schemas.openxmlformats.org/officeDocument/2006/relationships/notesSlide" Target="/ppt/notesSlides/notesSlide6.xml" Id="Ra45ca8e0390045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f56e4413e4caf" /><Relationship Type="http://schemas.openxmlformats.org/officeDocument/2006/relationships/notesSlide" Target="/ppt/notesSlides/notesSlide7.xml" Id="R57672be849354e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4e49a0ece46c2" /><Relationship Type="http://schemas.openxmlformats.org/officeDocument/2006/relationships/chart" Target="/ppt/slides/charts/chart1.xml" Id="R6507501a1cbb488b" /><Relationship Type="http://schemas.openxmlformats.org/officeDocument/2006/relationships/notesSlide" Target="/ppt/notesSlides/notesSlide8.xml" Id="R03ed173ec3204f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1a316d312454e" /><Relationship Type="http://schemas.openxmlformats.org/officeDocument/2006/relationships/notesSlide" Target="/ppt/notesSlides/notesSlide9.xml" Id="R38950cbf877d44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00dcdb7d94671" /><Relationship Type="http://schemas.openxmlformats.org/officeDocument/2006/relationships/notesSlide" Target="/ppt/notesSlides/notesSlide10.xml" Id="Ra04bd38ad1914a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c99842284425a" /><Relationship Type="http://schemas.openxmlformats.org/officeDocument/2006/relationships/notesSlide" Target="/ppt/notesSlides/notesSlide11.xml" Id="R4a11f7bb2f5947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069284dc74b8e" /><Relationship Type="http://schemas.openxmlformats.org/officeDocument/2006/relationships/notesSlide" Target="/ppt/notesSlides/notesSlide12.xml" Id="R1349501253e7483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Duração total (segundos)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Tempo mediano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Sequencial</c:v>
                </c:pt>
                <c:pt idx="1">
                  <c:v>Pool, 4 workers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15.575</c:v>
                </c:pt>
                <c:pt idx="1">
                  <c:v>12.748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WorkMy</a:t>
            </a:r>
          </a:p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Exportação com</a:t>
            </a:r>
          </a:p>
          <a:p xmlns:a="http://schemas.openxmlformats.org/drawingml/2006/main">
            <a:pPr algn="l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multiprocessing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PMI · Análise e Desenvolvimento de Sistemas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Rafael, Gabriel e Tais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Apresentação em 15/10/2026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PROCESSAMENTO PARALELO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rotina escolhida é a exportação Excel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 que a função entrega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O dashboard solicita um ZIP com quatro arquivos: Pagamentos, Clientes, Serviços e Projetos.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O teste usa 200.000 pagamentos, 12.000 projetos, 10.000 clientes e 53 serviços.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Onde fica no projeto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Repositório já clonado: rafael-lass/workmy.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ExportarDashboardUseCase.run() coordena a leitura e chama o gerador.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DashboardExcelRenderer.render() organiza os blocos e monta os arquivos.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divisão por arquivo concentrou o trabalho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Experimento inicial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Sequencial: 32,21 s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Paralelo: 38,03 s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Abertura de processos e transporte das listas acrescentavam custo.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Nova distribuição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blocos de pagamentos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tarefas para 4 workers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Cada job referencia um bloco privado em disco. O worker processa linhas.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Oportunidade encontrada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Pagamentos tinha quase todo o custo. Um arquivo por processo deixava os outros workers ociosos. A melhoria divide também o conjunto grande em blocos de 25.000 linhas.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pool executa blocos independentes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1. Leitura e preparação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Quatro consultas no mesmo snapshot do banco.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A função divide as linhas e cria entradas privadas para cada bloco.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3. Montagem e entrega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O processo principal reúne os fragmentos na ordem original.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Monta os quatro XLSX e entrega o ZIP.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2. Multiprocessing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Pool com até quatro processos.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Cada worker calcula atraso, converte células e grava um fragmento próprio.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 run_sequential(jobs):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return [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render_rows(job)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for job in jobs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]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sequencial processa um bloco por vez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latin typeface="Helvetica Neue"/>
                <a:ea typeface="Helvetica Neue"/>
                <a:cs typeface="Helvetica Neue"/>
              </a:rPr>
              <a:t>A mesma função nos dois modos</a:t>
            </a:r>
          </a:p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latin typeface="Helvetica Neue"/>
                <a:ea typeface="Helvetica Neue"/>
                <a:cs typeface="Helvetica Neue"/>
              </a:rPr>
              <a:t>render_rows(job) calcula campos e serializa as linhas.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O sequencial executa todas as tarefas no processo principal.</a:t>
            </a:r>
            <a:br>
              <a:rPr sz="1950">
                <a:latin typeface="Helvetica Neue"/>
                <a:ea typeface="Helvetica Neue"/>
                <a:cs typeface="Helvetica Neue"/>
              </a:rPr>
            </a:br>
            <a:br>
              <a:rPr sz="1950">
                <a:latin typeface="Helvetica Neue"/>
                <a:ea typeface="Helvetica Neue"/>
                <a:cs typeface="Helvetica Neue"/>
              </a:rPr>
            </a:br>
            <a:r>
              <a:rPr sz="1950">
                <a:latin typeface="Helvetica Neue"/>
                <a:ea typeface="Helvetica Neue"/>
                <a:cs typeface="Helvetica Neue"/>
              </a:rPr>
              <a:t>Mesmos blocos, formatos, cálculos e dados usados na versão paralela.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paralelo usa multiprocessing.Pool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Quatro workers em uma máquina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 quatro CPUs visíveis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Contexto spawn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00350"/>
            <a:ext cx="647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from multiprocessing import get_context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 run_parallel(jobs, workers):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if not jobs: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return []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with get_context("spawn").Pool(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processes=min(workers, len(jobs))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) as pool: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     return pool.map(render_rows, jobs)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 de processos reais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distribui as tarefas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Fragmentos exclusivos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encerra o pool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Início, fim e duração ficam registrados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Exemplo sequencial de 13/10: início 17:02:11.605, fim 17:02:22.759 (São Paulo).</a:t>
            </a: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Tempo = time.time() no fim − time.time() no início. Cinco repetições por modo.</a:t>
            </a: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90E58214-03A6-4139-B5DD-A292B6AF6981}"/>
              </a:ext>
            </a:extLst>
          </p:cNvPr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058716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Repetição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Sequencial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Economia (s)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Mais rápido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11,154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13,669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-2,515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Sequencial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16,768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14,539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14,293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12,748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1,545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15,575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12,550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3,025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16,472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12,535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3,937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15,575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12,748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2,827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7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Paralelo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mediana paralela reduz o tempo em 18,2%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15,57 s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Mediana sequencial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12,75 s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Mediana com Pool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latin typeface="Helvetica Neue"/>
                <a:ea typeface="Helvetica Neue"/>
                <a:cs typeface="Helvetica Neue"/>
              </a:rPr>
              <a:t>Comparação da mesma implementação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latin typeface="Helvetica Neue"/>
                <a:ea typeface="Helvetica Neue"/>
                <a:cs typeface="Helvetica Neue"/>
              </a:rPr>
              <a:t>Economia: 2,83 segundos.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Speedup: 1,22×.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Cinco execuções em cada modo.</a:t>
            </a:r>
          </a:p>
        </p:txBody>
      </p:sp>
      <p:graphicFrame>
        <p:nvGraphicFramePr>
          <p:cNvPr id="43" name="Chart">
            <a:extLst xmlns:a="http://schemas.openxmlformats.org/drawingml/2006/main">
              <a:ext uri="{FF2B5EF4-FFF2-40B4-BE49-F238E27FC236}">
                <a16:creationId xmlns:a16="http://schemas.microsoft.com/office/drawing/2014/main" id="{5DDC1CE9-DD8D-400A-8C57-1588A97CC22A}"/>
              </a:ext>
            </a:extLst>
          </p:cNvPr>
          <p:cNvGraphicFramePr/>
          <p:nvPr/>
        </p:nvGraphicFramePr>
        <p:xfrm>
          <a:off xmlns:a="http://schemas.openxmlformats.org/drawingml/2006/main" x="634460" y="1512951"/>
          <a:ext xmlns:a="http://schemas.openxmlformats.org/drawingml/2006/main" cx="5029771" cy="44797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07501a1cbb488b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Dificuldades encontradas na implementação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Distribuição desigual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Um processo concentrava Pagamentos. Blocos de 25.000 linhas distribuíram o maior conjunto.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Custo de iniciar processos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O pool tem custo de abertura. Os jobs carregam caminhos de arquivos privados e metadados pequenos.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Preservação dos arquivos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A montagem precisa manter ordem, moeda, datas e texto. Testes e hashes conferem a equivalência.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latin typeface="Helvetica Neue"/>
                <a:ea typeface="Helvetica Neue"/>
                <a:cs typeface="Helvetica Neue"/>
              </a:rPr>
              <a:t>Ambiente e cronometragem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latin typeface="Helvetica Neue"/>
                <a:ea typeface="Helvetica Neue"/>
                <a:cs typeface="Helvetica Neue"/>
              </a:rPr>
              <a:t>Permissões de temporários e suspensão do sistema afetaram ensaios. Docker e dois relógios ajudam a validar os tempos.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Deadlocks, concorrência e escalabilidade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Concorrência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Um diretório por exportação e um fragmento por bloco. Só o processo principal monta XLSX e ZIP.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Deadlocks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Nenhum observado. Workers usam arquivos distintos e não compartilham banco ou workbook. Falhas e I/O ainda exigem atenção.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Ganho limitado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Leitura, preparação e montagem seguem seriais. Volumes pequenos podem perder tempo ao iniciar processos.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latin typeface="Helvetica Neue"/>
                <a:ea typeface="Helvetica Neue"/>
                <a:cs typeface="Helvetica Neue"/>
              </a:rPr>
              <a:t>Escalabilidade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latin typeface="Helvetica Neue"/>
                <a:ea typeface="Helvetica Neue"/>
                <a:cs typeface="Helvetica Neue"/>
              </a:rPr>
              <a:t>Até quatro workers. Memória, disco e exportações simultâneas limitam a expansão. Mais workers não garantem ganho linear.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Os testes mostram o comportamento deste ambiente. O ganho depende do volume e dos recursos disponíveis.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comparação preservou o conteúdo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SHA-256 do XML das células, estilos e estrutura em todos os arquivos.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Integridade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Blocos se reúnem pelos offsets, preservando a ordem das consultas.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Ordenação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Falha de worker impede a entrega parcial e limpa os temporários.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Tratamento de falhas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 estudo de pico de recursos ou concorrência de várias exportações.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Limites verificados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latin typeface="Helvetica Neue"/>
                <a:ea typeface="Helvetica Neue"/>
                <a:cs typeface="Helvetica Neue"/>
              </a:rPr>
              <a:t>Validação da exportação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latin typeface="Helvetica Neue"/>
                <a:ea typeface="Helvetica Neue"/>
                <a:cs typeface="Helvetica Neue"/>
              </a:rPr>
              <a:t>11 testes aprovados.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Mesmo conteúdo dos quatro workbooks nas dez execuções da medição.</a:t>
            </a:r>
            <a:br>
              <a:rPr sz="2025">
                <a:latin typeface="Helvetica Neue"/>
                <a:ea typeface="Helvetica Neue"/>
                <a:cs typeface="Helvetica Neue"/>
              </a:rPr>
            </a:br>
            <a:br>
              <a:rPr sz="2025">
                <a:latin typeface="Helvetica Neue"/>
                <a:ea typeface="Helvetica Neue"/>
                <a:cs typeface="Helvetica Neue"/>
              </a:rPr>
            </a:br>
            <a:r>
              <a:rPr sz="2025">
                <a:latin typeface="Helvetica Neue"/>
                <a:ea typeface="Helvetica Neue"/>
                <a:cs typeface="Helvetica Neue"/>
              </a:rPr>
              <a:t>Banco PostgreSQL real no benchmark e SQLite isolado nos testes de API.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pool distribui o</a:t>
            </a:r>
          </a:p>
          <a:p xmlns:a="http://schemas.openxmlformats.org/drawingml/2006/main">
            <a:pPr algn="l"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trabalho dos pagamentos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7810500" cy="108024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15,57 s sequencial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12,75 s com multiprocessing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18,2% menos tempo nesta medição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WORKMY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2026-10-13T20:14:44.7370000Z</dcterms:created>
  <dcterms:modified xsi:type="dcterms:W3CDTF">2026-10-13T20:14:44.7370000Z</dcterms:modified>
</coreProperties>
</file>