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3e80b31aa40ab" /><Relationship Type="http://schemas.openxmlformats.org/officeDocument/2006/relationships/extended-properties" Target="/docProps/app.xml" Id="R741aa0e02b3c45f6" /><Relationship Type="http://schemas.openxmlformats.org/officeDocument/2006/relationships/officeDocument" Target="/ppt/presentation.xml" Id="R4a76c95eede1448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c231a26b37246f3"/>
  </p:sldMasterIdLst>
  <p:notesMasterIdLst>
    <p:notesMasterId xmlns:r="http://schemas.openxmlformats.org/officeDocument/2006/relationships" r:id="R3350431b096c4645"/>
  </p:notesMasterIdLst>
  <p:sldIdLst>
    <p:sldId xmlns:r="http://schemas.openxmlformats.org/officeDocument/2006/relationships" id="256" r:id="R2dbc8783fdd345cc"/>
    <p:sldId xmlns:r="http://schemas.openxmlformats.org/officeDocument/2006/relationships" id="257" r:id="R683d2ece1c2c44cd"/>
    <p:sldId xmlns:r="http://schemas.openxmlformats.org/officeDocument/2006/relationships" id="258" r:id="R978a2435526c461b"/>
    <p:sldId xmlns:r="http://schemas.openxmlformats.org/officeDocument/2006/relationships" id="259" r:id="R392e888f0b214adc"/>
    <p:sldId xmlns:r="http://schemas.openxmlformats.org/officeDocument/2006/relationships" id="260" r:id="Rd3c6c39c5fc84d32"/>
    <p:sldId xmlns:r="http://schemas.openxmlformats.org/officeDocument/2006/relationships" id="261" r:id="R82048c72ebd847f3"/>
    <p:sldId xmlns:r="http://schemas.openxmlformats.org/officeDocument/2006/relationships" id="262" r:id="R386a657805d74395"/>
    <p:sldId xmlns:r="http://schemas.openxmlformats.org/officeDocument/2006/relationships" id="263" r:id="R7dcb481de68046b2"/>
    <p:sldId xmlns:r="http://schemas.openxmlformats.org/officeDocument/2006/relationships" id="264" r:id="R5311c705a7074436"/>
    <p:sldId xmlns:r="http://schemas.openxmlformats.org/officeDocument/2006/relationships" id="265" r:id="R8bf7c75a1c544431"/>
    <p:sldId xmlns:r="http://schemas.openxmlformats.org/officeDocument/2006/relationships" id="266" r:id="Rfc7c2f1d5beb447f"/>
    <p:sldId xmlns:r="http://schemas.openxmlformats.org/officeDocument/2006/relationships" id="267" r:id="R7b22e27b3a7a4b27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edde17f990024d7d"/>
      <p:bold xmlns:r="http://schemas.openxmlformats.org/officeDocument/2006/relationships" r:id="Re6fb4c83a8724131"/>
      <p:italic xmlns:r="http://schemas.openxmlformats.org/officeDocument/2006/relationships" r:id="R152b680f08374598"/>
      <p:boldItalic xmlns:r="http://schemas.openxmlformats.org/officeDocument/2006/relationships" r:id="R25f47a65e2be460b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e1d543ae34bc3" /><Relationship Type="http://schemas.openxmlformats.org/officeDocument/2006/relationships/slideMaster" Target="/ppt/slideMasters/slideMaster1.xml" Id="R0c231a26b37246f3" /><Relationship Type="http://schemas.openxmlformats.org/officeDocument/2006/relationships/notesMaster" Target="/ppt/notesMasters/notesMaster1.xml" Id="R3350431b096c4645" /><Relationship Type="http://schemas.openxmlformats.org/officeDocument/2006/relationships/presProps" Target="/ppt/presProps.xml" Id="R086a45d62e714719" /><Relationship Type="http://schemas.openxmlformats.org/officeDocument/2006/relationships/viewProps" Target="/ppt/viewProps.xml" Id="Rda59db902c41490d" /><Relationship Type="http://schemas.openxmlformats.org/officeDocument/2006/relationships/tableStyles" Target="/ppt/tableStyles.xml" Id="Rf99d31f8b70d4af3" /><Relationship Type="http://schemas.openxmlformats.org/officeDocument/2006/relationships/font" Target="/ppt/fonts/font.dat" Id="Redde17f990024d7d" /><Relationship Type="http://schemas.openxmlformats.org/officeDocument/2006/relationships/font" Target="/ppt/fonts/font2.dat" Id="Re6fb4c83a8724131" /><Relationship Type="http://schemas.openxmlformats.org/officeDocument/2006/relationships/font" Target="/ppt/fonts/font3.dat" Id="R152b680f08374598" /><Relationship Type="http://schemas.openxmlformats.org/officeDocument/2006/relationships/font" Target="/ppt/fonts/font4.dat" Id="R25f47a65e2be460b" /><Relationship Type="http://schemas.openxmlformats.org/officeDocument/2006/relationships/slide" Target="/ppt/slides/slide1.xml" Id="R2dbc8783fdd345cc" /><Relationship Type="http://schemas.openxmlformats.org/officeDocument/2006/relationships/slide" Target="/ppt/slides/slide2.xml" Id="R683d2ece1c2c44cd" /><Relationship Type="http://schemas.openxmlformats.org/officeDocument/2006/relationships/slide" Target="/ppt/slides/slide3.xml" Id="R978a2435526c461b" /><Relationship Type="http://schemas.openxmlformats.org/officeDocument/2006/relationships/slide" Target="/ppt/slides/slide4.xml" Id="R392e888f0b214adc" /><Relationship Type="http://schemas.openxmlformats.org/officeDocument/2006/relationships/slide" Target="/ppt/slides/slide5.xml" Id="Rd3c6c39c5fc84d32" /><Relationship Type="http://schemas.openxmlformats.org/officeDocument/2006/relationships/slide" Target="/ppt/slides/slide6.xml" Id="R82048c72ebd847f3" /><Relationship Type="http://schemas.openxmlformats.org/officeDocument/2006/relationships/slide" Target="/ppt/slides/slide7.xml" Id="R386a657805d74395" /><Relationship Type="http://schemas.openxmlformats.org/officeDocument/2006/relationships/slide" Target="/ppt/slides/slide8.xml" Id="R7dcb481de68046b2" /><Relationship Type="http://schemas.openxmlformats.org/officeDocument/2006/relationships/slide" Target="/ppt/slides/slide9.xml" Id="R5311c705a7074436" /><Relationship Type="http://schemas.openxmlformats.org/officeDocument/2006/relationships/slide" Target="/ppt/slides/slide10.xml" Id="R8bf7c75a1c544431" /><Relationship Type="http://schemas.openxmlformats.org/officeDocument/2006/relationships/slide" Target="/ppt/slides/slide11.xml" Id="Rfc7c2f1d5beb447f" /><Relationship Type="http://schemas.openxmlformats.org/officeDocument/2006/relationships/slide" Target="/ppt/slides/slide12.xml" Id="R7b22e27b3a7a4b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0d4f86368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c0ce9f4c74c86" /><Relationship Type="http://schemas.openxmlformats.org/officeDocument/2006/relationships/notesMaster" Target="/ppt/notesMasters/notesMaster1.xml" Id="R4d2d3af076ad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36a98449db46fa" /><Relationship Type="http://schemas.openxmlformats.org/officeDocument/2006/relationships/notesMaster" Target="/ppt/notesMasters/notesMaster1.xml" Id="Re15deb39e3c74b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1c4ef31e94db3" /><Relationship Type="http://schemas.openxmlformats.org/officeDocument/2006/relationships/notesMaster" Target="/ppt/notesMasters/notesMaster1.xml" Id="R3563eb00451f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68f158bc84f2c" /><Relationship Type="http://schemas.openxmlformats.org/officeDocument/2006/relationships/notesMaster" Target="/ppt/notesMasters/notesMaster1.xml" Id="Rd5ae7aff523f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396c0939414697" /><Relationship Type="http://schemas.openxmlformats.org/officeDocument/2006/relationships/notesMaster" Target="/ppt/notesMasters/notesMaster1.xml" Id="Rb13345a45d334a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30a2681d574500" /><Relationship Type="http://schemas.openxmlformats.org/officeDocument/2006/relationships/notesMaster" Target="/ppt/notesMasters/notesMaster1.xml" Id="R3398562b205d45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90534c2454cf0" /><Relationship Type="http://schemas.openxmlformats.org/officeDocument/2006/relationships/notesMaster" Target="/ppt/notesMasters/notesMaster1.xml" Id="R1fb7314a8daa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8249a687f4322" /><Relationship Type="http://schemas.openxmlformats.org/officeDocument/2006/relationships/notesMaster" Target="/ppt/notesMasters/notesMaster1.xml" Id="Rf5510ec6603d46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4489887da64e06" /><Relationship Type="http://schemas.openxmlformats.org/officeDocument/2006/relationships/notesMaster" Target="/ppt/notesMasters/notesMaster1.xml" Id="R3de218db173d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3af2179434fea" /><Relationship Type="http://schemas.openxmlformats.org/officeDocument/2006/relationships/notesMaster" Target="/ppt/notesMasters/notesMaster1.xml" Id="Rdac6c485b05047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1101729cbe4c30" /><Relationship Type="http://schemas.openxmlformats.org/officeDocument/2006/relationships/notesMaster" Target="/ppt/notesMasters/notesMaster1.xml" Id="R47d6138cbc4443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476d25b61f487d" /><Relationship Type="http://schemas.openxmlformats.org/officeDocument/2006/relationships/notesMaster" Target="/ppt/notesMasters/notesMaster1.xml" Id="Rdb7cfb133ce1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enunciado fornecido pelo usuário e docs/evidencias/pmi-paralelismo-2026-10-13/RELATORIO_FINAL.md. A data de apresentação é 15/10/2026.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git remote -v conferido; backend-fastapi/src/application/usecases/exportar_dashboard.py; backend-fastapi/src/infrastructure/documents/dashboard_excel.py; comparacao-pool.json, campo counts. Base Git 6a97132 com alterações locais.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histórica: docs/evidencias/exportacao-excel-paralelo-2026-10-08/comparacao-apenas-renderizacao.json. Fonte atual: dashboard_excel.py, batch_size=25000 e workers=4. O experimento inicial usa algoritmo diferente e não integra as medianas atuais.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exportar_dashboard.py; dashboard_excel.py; excel_rows.py. Só o processamento dos blocos executa em multiprocessing. Banco e montagem final seguem sequenciais. Não há workbook nem sessão SQLAlchemy compartilhada.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run_sequential. A quebra de linha foi expandida para legibilidade; o comportamento é idêntico ao source. O worker compartilhado está em excel_rows.py, render_rows.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run_parallel. As linhas da chamada Pool foram quebradas para exibição. benchmark_excel.py usa if __name__ == __main__, necessário ao spawn. A máquina da medição informa cpu_count=4.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docs/evidencias/pmi-paralelismo-2026-10-13/comparacao-pool.json. Horários started_at/finished_at são reais com offset -03:00. Repetições alternam ordem. Tempos incluem todo run(), abertura/encerramento de processos e ZIP. Hashes são conferidos fora do cronômetro. Tempos de uma repetição podem favorecer o sequencial.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comparacao-pool.json, results.total. Python 3.12.15, PostgreSQL 15, Docker Linux/WSL2, 4 CPUs. Redução = 100*(1-par/seq); speedup=seq/par. O gráfico começa em zero. Essa comparação não usa resultados do algoritmo anterior. A medição inclui carga normal e variação de execução no computador.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RELATORIO_FINAL.md, seção dificuldades; históricos preservados em docs/evidencias/exportacao-excel-paralelo-2026-10-08. Não afirmar deadlock onde houve problema de permissão ou relógio.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dashboard_excel.py, excel_rows.py e RELATORIO_FINAL.md, seção desafios. Nenhum deadlock observado não prova ausência de risco. Não foram medidos pico de memória/disco nem múltiplas exportações simultâneas. A API usa tempo limite HTTP, que não cancela automaticamente um worker preso.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testes.xml (11 testes, zero falhas), comparacao-pool.json content_equal=true e content_sha256 de cada run. Tests: test_excel_blocks.py e test_dashboard_excel.py. Hashes ignoram timestamps ZIP. Evidências não constituem ensaio concorrente de vários usuários.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comparacao-pool.json e RELATORIO_FINAL.md. A melhoria é demonstrada para este volume/ambiente. Instruções de apresentação e comandos da demo ficam no chat conforme solicitado, fora dos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6820fe88f40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05986bc1a43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f427b03e949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54daf0db444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2be00b9cf45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f441bbb9141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47febd81247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6402229b8474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b2ad76047419f" /><Relationship Type="http://schemas.openxmlformats.org/officeDocument/2006/relationships/slideLayout" Target="/ppt/slideLayouts/slideLayout1.xml" Id="R5deddfae821d4ed3" /><Relationship Type="http://schemas.openxmlformats.org/officeDocument/2006/relationships/slideLayout" Target="/ppt/slideLayouts/slideLayout2.xml" Id="Ra539da62e8004cc6" /><Relationship Type="http://schemas.openxmlformats.org/officeDocument/2006/relationships/slideLayout" Target="/ppt/slideLayouts/slideLayout3.xml" Id="R2e4559dd9ad24ce6" /><Relationship Type="http://schemas.openxmlformats.org/officeDocument/2006/relationships/slideLayout" Target="/ppt/slideLayouts/slideLayout4.xml" Id="R32ea4ec8b779453c" /><Relationship Type="http://schemas.openxmlformats.org/officeDocument/2006/relationships/slideLayout" Target="/ppt/slideLayouts/slideLayout5.xml" Id="R39b526954eb04c51" /><Relationship Type="http://schemas.openxmlformats.org/officeDocument/2006/relationships/slideLayout" Target="/ppt/slideLayouts/slideLayout6.xml" Id="R302ae289db5f4631" /><Relationship Type="http://schemas.openxmlformats.org/officeDocument/2006/relationships/slideLayout" Target="/ppt/slideLayouts/slideLayout7.xml" Id="R890ce27b6d984745" /><Relationship Type="http://schemas.openxmlformats.org/officeDocument/2006/relationships/slideLayout" Target="/ppt/slideLayouts/slideLayout8.xml" Id="R9caf918f66a847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eddfae821d4ed3"/>
    <p:sldLayoutId xmlns:r="http://schemas.openxmlformats.org/officeDocument/2006/relationships" id="2147483650" r:id="Ra539da62e8004cc6"/>
    <p:sldLayoutId xmlns:r="http://schemas.openxmlformats.org/officeDocument/2006/relationships" id="2147483651" r:id="R2e4559dd9ad24ce6"/>
    <p:sldLayoutId xmlns:r="http://schemas.openxmlformats.org/officeDocument/2006/relationships" id="2147483652" r:id="R32ea4ec8b779453c"/>
    <p:sldLayoutId xmlns:r="http://schemas.openxmlformats.org/officeDocument/2006/relationships" id="2147483653" r:id="R39b526954eb04c51"/>
    <p:sldLayoutId xmlns:r="http://schemas.openxmlformats.org/officeDocument/2006/relationships" id="2147483654" r:id="R302ae289db5f4631"/>
    <p:sldLayoutId xmlns:r="http://schemas.openxmlformats.org/officeDocument/2006/relationships" id="2147483655" r:id="R890ce27b6d984745"/>
    <p:sldLayoutId xmlns:r="http://schemas.openxmlformats.org/officeDocument/2006/relationships" id="2147483656" r:id="R9caf918f66a847e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918d66dd14382" /><Relationship Type="http://schemas.openxmlformats.org/officeDocument/2006/relationships/notesSlide" Target="/ppt/notesSlides/notesSlide1.xml" Id="Raf2b35d8a9ed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b0f7989394bac" /><Relationship Type="http://schemas.openxmlformats.org/officeDocument/2006/relationships/notesSlide" Target="/ppt/notesSlides/notesSlide2.xml" Id="R29cdf81ec46a42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dfd5ad4c74e7e" /><Relationship Type="http://schemas.openxmlformats.org/officeDocument/2006/relationships/notesSlide" Target="/ppt/notesSlides/notesSlide3.xml" Id="Rf6e58d96bc63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155d6a9fc479c" /><Relationship Type="http://schemas.openxmlformats.org/officeDocument/2006/relationships/notesSlide" Target="/ppt/notesSlides/notesSlide4.xml" Id="R1ceddc8f2fda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51c78479134fc1" /><Relationship Type="http://schemas.openxmlformats.org/officeDocument/2006/relationships/notesSlide" Target="/ppt/notesSlides/notesSlide5.xml" Id="R017e8ebd681e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e6588764b4775" /><Relationship Type="http://schemas.openxmlformats.org/officeDocument/2006/relationships/notesSlide" Target="/ppt/notesSlides/notesSlide6.xml" Id="R4599ad560057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56a451e324546" /><Relationship Type="http://schemas.openxmlformats.org/officeDocument/2006/relationships/notesSlide" Target="/ppt/notesSlides/notesSlide7.xml" Id="R44405030821943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ad4fe6b1040b0" /><Relationship Type="http://schemas.openxmlformats.org/officeDocument/2006/relationships/chart" Target="/ppt/slides/charts/chart1.xml" Id="R2b5e7753b8e7400f" /><Relationship Type="http://schemas.openxmlformats.org/officeDocument/2006/relationships/notesSlide" Target="/ppt/notesSlides/notesSlide8.xml" Id="R82617b075df24b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d245f1d69400e" /><Relationship Type="http://schemas.openxmlformats.org/officeDocument/2006/relationships/notesSlide" Target="/ppt/notesSlides/notesSlide9.xml" Id="R3188ecc92df345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dc5242ad74f59" /><Relationship Type="http://schemas.openxmlformats.org/officeDocument/2006/relationships/notesSlide" Target="/ppt/notesSlides/notesSlide10.xml" Id="Rd0423d9d8dd341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707a070a94844" /><Relationship Type="http://schemas.openxmlformats.org/officeDocument/2006/relationships/notesSlide" Target="/ppt/notesSlides/notesSlide11.xml" Id="Rdacb4320a0a84e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0851968074b4c" /><Relationship Type="http://schemas.openxmlformats.org/officeDocument/2006/relationships/notesSlide" Target="/ppt/notesSlides/notesSlide12.xml" Id="Rced8734e1a1b48e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Duração total (segundos)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Tempo mediano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2"/>
              <c:pt idx="0">
                <c:v>Sequencial</c:v>
              </c:pt>
              <c:pt idx="1">
                <c:v>Pool, 4 workers</c:v>
              </c:pt>
            </c:strLit>
          </c:cat>
          <c:val>
            <c:numLit>
              <c:formatCode>0</c:formatCode>
              <c:ptCount val="2"/>
              <c:pt idx="0">
                <c:v>15.57</c:v>
              </c:pt>
              <c:pt idx="1">
                <c:v>12.75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Exportação com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multiprocessing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PMI · Análise e Desenvolvimento de Sistemas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Rafael, Gabriel e Leonardo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Apresentação em 15/10/2026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PROCESSAMENTO PARALELO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rotina escolhida é a exportação Excel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 que a função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dashboard solicita um ZIP com quatro arquivos: Pagamentos, Clientes, Serviços e Projetos.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teste usa 200.000 pagamentos, 12.000 projetos, 10.000 clientes e 53 serviços.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Onde fica no projeto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Repositório já clonado: rafael-lass/workmy.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ExportarDashboardUseCase.run() coordena a leitura e chama o gerador.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DashboardExcelRenderer.render() organiza os blocos e monta os arquivos.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divisão por arquivo concentrou o trabalho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Experimento inicial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Sequencial: 32,21 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Paralelo: 38,03 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Abertura de processos e transporte das listas acrescentavam custo.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Nova distribuição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blocos de pagamentos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tarefas para 4 workers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job referencia um bloco privado em disco. O worker processa linhas.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Oportunidade encontrada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Pagamentos tinha quase todo o custo. Um arquivo por processo deixava os outros workers ociosos. A melhoria divide também o conjunto grande em blocos de 25.000 linhas.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executa blocos independentes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1. Leitura e preparação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Quatro consultas no mesmo snapshot do banco.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A função divide as linhas e cria entradas privadas para cada bloco.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3. Montagem e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processo principal reúne os fragmentos na ordem original.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Monta os quatro XLSX e entrega o ZIP.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2. Multiprocessing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Pool com até quatro processos.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Cada worker calcula atraso, converte células e grava um fragmento próprio.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run_sequential(jobs):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return [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render_rows(job)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for job in jobs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]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sequencial processa um bloco por vez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A mesma função nos dois modos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render_rows(job) calcula campos e serializa as linhas.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sequencial executa todas as tarefas no processo principal.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Mesmos blocos, formatos, cálculos e dados usados na versão paralela.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paralelo usa multiprocessing.Pool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Quatro workers em uma máquina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 quatro CPUs visíveis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Contexto spawn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00350"/>
            <a:ext cx="647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multiprocessing import get_context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run_parallel(jobs, workers):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if not jobs: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[]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with get_context("spawn").Pool(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processes=min(workers, len(jobs))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) as pool: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pool.map(render_rows, jobs)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 de processos reais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distribui as tarefas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Fragmentos exclusivos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encerra o pool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Início, fim e duração ficam registrados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Exemplo sequencial de 13/10: início 17:02:11.605, fim 17:02:22.759 (São Paulo).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 = time.time() no fim − time.time() no início. Cinco repetições por modo.</a:t>
            </a: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3B0BC02C-433B-4F61-B105-067FBCC669E0}"/>
              </a:ext>
            </a:extLst>
          </p:cNvPr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05871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Repetição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Economia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Mais rápido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11,154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13,669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-2,515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16,768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14,539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14,293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3,025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16,472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12,535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mediana paralela reduz o tempo em 18,2%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sequencial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com Pool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Comparação da mesma implementação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Economia: 2,83 segundos.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Speedup: 1,22×.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Cinco execuções em cada modo.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FB57FAFF-B715-4508-94A3-3E508B9D753B}"/>
              </a:ext>
            </a:extLst>
          </p:cNvPr>
          <p:cNvGraphicFramePr/>
          <p:nvPr/>
        </p:nvGraphicFramePr>
        <p:xfrm>
          <a:off xmlns:a="http://schemas.openxmlformats.org/drawingml/2006/main" x="634460" y="1512951"/>
          <a:ext xmlns:a="http://schemas.openxmlformats.org/drawingml/2006/main" cx="5029771" cy="44797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5e7753b8e7400f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Dificuldades encontradas na implementação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Distribuição desigual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Um processo concentrava Pagamentos. Blocos de 25.000 linhas distribuíram o maior conjunto.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Custo de iniciar processos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O pool tem custo de abertura. Os jobs carregam caminhos de arquivos privados e metadados pequenos.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Preservação dos arquivos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A montagem precisa manter ordem, moeda, datas e texto. Testes e hashes conferem a equivalência.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Ambiente e cronometragem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Permissões de temporários e suspensão do sistema afetaram ensaios. Docker e dois relógios ajudam a validar os tempos.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Deadlocks, concorrência e escalabilidade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Concorrência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Um diretório por exportação e um fragmento por bloco. Só o processo principal monta XLSX e ZIP.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Deadlocks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Nenhum observado. Workers usam arquivos distintos e não compartilham banco ou workbook. Falhas e I/O ainda exigem atenção.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Ganho limitado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Leitura, preparação e montagem seguem seriais. Volumes pequenos podem perder tempo ao iniciar processos.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Escalabilidade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Até quatro workers. Memória, disco e exportações simultâneas limitam a expansão. Mais workers não garantem ganho linear.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 testes mostram o comportamento deste ambiente. O ganho depende do volume e dos recursos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comparação preservou o conteúdo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SHA-256 do XML das células, estilos e estrutura em todos os arquivos.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Integridade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Blocos se reúnem pelos offsets, preservando a ordem das consultas.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Ordenação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Falha de worker impede a entrega parcial e limpa os temporários.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Tratamento de falhas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 estudo de pico de recursos ou concorrência de várias exportações.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Limites verificados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Validação da exportação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11 testes aprovados.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Mesmo conteúdo dos quatro workbooks nas dez execuções da medição.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Banco PostgreSQL real no benchmark e SQLite isolado nos testes de API.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distribui o</a:t>
            </a:r>
          </a:p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trabalho dos pagamentos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7810500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 sequencial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 com multiprocessing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18,2% menos tempo nesta medição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2026-10-15T14:33:50.7010000Z</dcterms:created>
  <dcterms:modified xsi:type="dcterms:W3CDTF">2026-10-15T14:33:50.7010000Z</dcterms:modified>
</coreProperties>
</file>